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4" name="PlaceHolder 3"/>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0BE37D1-9E83-4DF2-8CC6-1F7F4825BE8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400" y="1956240"/>
            <a:ext cx="5811480" cy="262872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8"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DB9FA561-3A70-4332-93BF-E31BC70BD86D}"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lstStyle>
            <a:lvl1pPr indent="0" algn="l">
              <a:buNone/>
              <a:defRPr lang="en-IN" sz="6000" b="0" u="none" strike="noStrike">
                <a:solidFill>
                  <a:srgbClr val="000000"/>
                </a:solidFill>
                <a:effectLst/>
                <a:uFillTx/>
                <a:latin typeface="Arial"/>
              </a:defRPr>
            </a:lvl1pPr>
          </a:lstStyle>
          <a:p>
            <a:pPr indent="0" algn="l">
              <a:buNone/>
            </a:pPr>
            <a:r>
              <a:rPr lang="en-IN" sz="6000" b="0" u="none" strike="noStrike">
                <a:solidFill>
                  <a:srgbClr val="000000"/>
                </a:solidFill>
                <a:effectLst/>
                <a:uFillTx/>
                <a:latin typeface="Arial"/>
              </a:rPr>
              <a:t>Click to edit the title text format</a:t>
            </a:r>
            <a:endParaRPr lang="en-IN" sz="6000" b="0" u="none" strike="noStrike">
              <a:solidFill>
                <a:srgbClr val="000000"/>
              </a:solidFill>
              <a:effectLst/>
              <a:uFillTx/>
              <a:latin typeface="Arial"/>
            </a:endParaRPr>
          </a:p>
        </p:txBody>
      </p:sp>
      <p:sp>
        <p:nvSpPr>
          <p:cNvPr id="1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475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0729EF1-CE43-40E3-952A-C381351629D5}"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0" name="PlaceHolder 4"/>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7A6C81D-E7E2-45BF-864F-21AACA7BE79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8" name="PlaceHolder 6"/>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9" name="PlaceHolder 7"/>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68B1763-D687-4401-8978-98AB0143625C}"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2" name="PlaceHolder 2"/>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07A6327-7336-4F5F-88C9-958BD7CAFC70}"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6" name="PlaceHolder 2"/>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69D82C6-5569-4054-B3E1-ACC4573D1FAC}"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IN" sz="3200" b="0" u="none" strike="noStrike">
                <a:solidFill>
                  <a:srgbClr val="000000"/>
                </a:solidFill>
                <a:effectLst/>
                <a:uFillTx/>
                <a:latin typeface="Arial"/>
              </a:defRPr>
            </a:lvl1pPr>
          </a:lstStyle>
          <a:p>
            <a:pPr indent="0" algn="l">
              <a:buNone/>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3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IN" sz="3200" b="0" u="none" strike="noStrike">
                <a:solidFill>
                  <a:srgbClr val="000000"/>
                </a:solidFill>
                <a:effectLst/>
                <a:uFillTx/>
                <a:latin typeface="Arial"/>
              </a:rPr>
              <a:t>Click to edit the outline text format</a:t>
            </a:r>
            <a:endParaRPr lang="en-IN" sz="3200" b="0" u="none" strike="noStrike">
              <a:solidFill>
                <a:srgbClr val="000000"/>
              </a:solidFill>
              <a:effectLst/>
              <a:uFillTx/>
              <a:latin typeface="Arial"/>
            </a:endParaRPr>
          </a:p>
          <a:p>
            <a:pPr marL="914400" lvl="1" indent="-406440" algn="l">
              <a:spcBef>
                <a:spcPts val="1134"/>
              </a:spcBef>
              <a:buClr>
                <a:srgbClr val="000000"/>
              </a:buClr>
              <a:buSzPct val="75000"/>
              <a:buFont typeface="Symbol" charset="2"/>
              <a:buChar char=""/>
            </a:pPr>
            <a:r>
              <a:rPr lang="en-IN" sz="3200" b="0" u="none" strike="noStrike">
                <a:solidFill>
                  <a:srgbClr val="000000"/>
                </a:solidFill>
                <a:effectLst/>
                <a:uFillTx/>
                <a:latin typeface="Arial"/>
              </a:rPr>
              <a:t>Second Outline Level</a:t>
            </a:r>
            <a:endParaRPr lang="en-IN" sz="3200" b="0" u="none" strike="noStrike">
              <a:solidFill>
                <a:srgbClr val="000000"/>
              </a:solidFill>
              <a:effectLst/>
              <a:uFillTx/>
              <a:latin typeface="Arial"/>
            </a:endParaRPr>
          </a:p>
          <a:p>
            <a:pPr marL="1371600" lvl="2" indent="-380880" algn="l">
              <a:spcBef>
                <a:spcPts val="850"/>
              </a:spcBef>
              <a:buClr>
                <a:srgbClr val="000000"/>
              </a:buClr>
              <a:buSzPct val="45000"/>
              <a:buFont typeface="Wingdings" charset="2"/>
              <a:buChar char=""/>
            </a:pPr>
            <a:r>
              <a:rPr lang="en-IN" sz="3200" b="0" u="none" strike="noStrike">
                <a:solidFill>
                  <a:srgbClr val="000000"/>
                </a:solidFill>
                <a:effectLst/>
                <a:uFillTx/>
                <a:latin typeface="Arial"/>
              </a:rPr>
              <a:t>Third Outline Level</a:t>
            </a:r>
            <a:endParaRPr lang="en-IN" sz="3200" b="0" u="none" strike="noStrike">
              <a:solidFill>
                <a:srgbClr val="000000"/>
              </a:solidFill>
              <a:effectLst/>
              <a:uFillTx/>
              <a:latin typeface="Arial"/>
            </a:endParaRPr>
          </a:p>
          <a:p>
            <a:pPr marL="1828800" lvl="3" indent="-355680" algn="l">
              <a:spcBef>
                <a:spcPts val="567"/>
              </a:spcBef>
              <a:buClr>
                <a:srgbClr val="000000"/>
              </a:buClr>
              <a:buSzPct val="75000"/>
              <a:buFont typeface="Symbol" charset="2"/>
              <a:buChar char=""/>
            </a:pPr>
            <a:r>
              <a:rPr lang="en-IN" sz="3200" b="0" u="none" strike="noStrike">
                <a:solidFill>
                  <a:srgbClr val="000000"/>
                </a:solidFill>
                <a:effectLst/>
                <a:uFillTx/>
                <a:latin typeface="Arial"/>
              </a:rPr>
              <a:t>Fourth Outline Level</a:t>
            </a:r>
            <a:endParaRPr lang="en-IN" sz="3200" b="0" u="none" strike="noStrike">
              <a:solidFill>
                <a:srgbClr val="000000"/>
              </a:solidFill>
              <a:effectLst/>
              <a:uFillTx/>
              <a:latin typeface="Arial"/>
            </a:endParaRPr>
          </a:p>
          <a:p>
            <a:pPr marL="2286000" lvl="4"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Fifth Outline Level</a:t>
            </a:r>
            <a:endParaRPr lang="en-IN" sz="3200" b="0" u="none" strike="noStrike">
              <a:solidFill>
                <a:srgbClr val="000000"/>
              </a:solidFill>
              <a:effectLst/>
              <a:uFillTx/>
              <a:latin typeface="Arial"/>
            </a:endParaRPr>
          </a:p>
          <a:p>
            <a:pPr marL="2743200" lvl="5"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Sixth Outline Level</a:t>
            </a:r>
            <a:endParaRPr lang="en-IN" sz="3200" b="0" u="none" strike="noStrike">
              <a:solidFill>
                <a:srgbClr val="000000"/>
              </a:solidFill>
              <a:effectLst/>
              <a:uFillTx/>
              <a:latin typeface="Arial"/>
            </a:endParaRPr>
          </a:p>
          <a:p>
            <a:pPr marL="3200400" lvl="6"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Seventh Outline Level</a:t>
            </a:r>
            <a:endParaRPr lang="en-IN" sz="3200" b="0" u="none" strike="noStrike">
              <a:solidFill>
                <a:srgbClr val="000000"/>
              </a:solidFill>
              <a:effectLst/>
              <a:uFillTx/>
              <a:latin typeface="Arial"/>
            </a:endParaRPr>
          </a:p>
        </p:txBody>
      </p:sp>
      <p:sp>
        <p:nvSpPr>
          <p:cNvPr id="4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41"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2"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38BE675-A68F-4683-8951-88EDC23C11F4}"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IN" sz="3200" b="0" u="none" strike="noStrike">
                <a:solidFill>
                  <a:srgbClr val="000000"/>
                </a:solidFill>
                <a:effectLst/>
                <a:uFillTx/>
                <a:latin typeface="Arial"/>
              </a:defRPr>
            </a:lvl1pPr>
          </a:lstStyle>
          <a:p>
            <a:pPr indent="0" algn="l">
              <a:buNone/>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4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rm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4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47" name="PlaceHolder 4"/>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49CD442-6378-4E23-A9E6-40F5C2752DD1}"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51"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52" name="PlaceHolder 3"/>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3" name="PlaceHolder 4"/>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5"/>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7038292-FE69-45FC-A85E-32555931852D}"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p>
            <a:pPr indent="0" algn="ctr">
              <a:lnSpc>
                <a:spcPct val="90000"/>
              </a:lnSpc>
              <a:buNone/>
            </a:pPr>
            <a:r>
              <a:rPr lang="en-US" sz="6600" b="1" u="none" strike="noStrike">
                <a:solidFill>
                  <a:schemeClr val="dk1"/>
                </a:solidFill>
                <a:effectLst/>
                <a:uFillTx/>
                <a:latin typeface="Calibri"/>
                <a:ea typeface="Calibri"/>
              </a:rPr>
              <a:t>IBM University Engagement Project Submission</a:t>
            </a:r>
            <a:br>
              <a:rPr sz="6000"/>
            </a:br>
            <a:endParaRPr lang="en-IN"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5240" cy="149976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Granite and LangFlow”</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5320" cy="198720"/>
          </a:xfrm>
          <a:prstGeom prst="rect">
            <a:avLst/>
          </a:prstGeom>
          <a:noFill/>
          <a:ln w="0">
            <a:noFill/>
          </a:ln>
        </p:spPr>
        <p:style>
          <a:lnRef idx="0"/>
          <a:fillRef idx="0"/>
          <a:effectRef idx="0"/>
          <a:fontRef idx="minor"/>
        </p:style>
        <p:txBody>
          <a:bodyPr lIns="0" tIns="0" rIns="0" bIns="0" anchor="t">
            <a:noAutofit/>
          </a:bodyPr>
          <a:p>
            <a:endParaRPr lang="en-IN" sz="1500" b="0" u="none" strike="noStrike">
              <a:solidFill>
                <a:schemeClr val="dk1"/>
              </a:solidFill>
              <a:effectLst/>
              <a:uFillTx/>
              <a:latin typeface="Times New Roman"/>
            </a:endParaRPr>
          </a:p>
        </p:txBody>
      </p:sp>
      <p:sp>
        <p:nvSpPr>
          <p:cNvPr id="58"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endParaRPr lang="en-IN" sz="3200" b="1" u="none" strike="noStrike">
              <a:solidFill>
                <a:srgbClr val="002060"/>
              </a:solidFill>
              <a:effectLst/>
              <a:uFillTx/>
              <a:latin typeface="Times New Roman"/>
            </a:endParaRPr>
          </a:p>
        </p:txBody>
      </p:sp>
      <p:graphicFrame>
        <p:nvGraphicFramePr>
          <p:cNvPr id="59" name="Google Shape;96;p2"/>
          <p:cNvGraphicFramePr/>
          <p:nvPr/>
        </p:nvGraphicFramePr>
        <p:xfrm>
          <a:off x="1299240" y="2600280"/>
          <a:ext cx="939456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Faculty Name</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IN"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tabLst>
                          <a:tab pos="0" algn="l"/>
                        </a:tabLst>
                      </a:pPr>
                      <a:r>
                        <a:rPr lang="en-US" sz="1400" b="0" u="none" strike="noStrike">
                          <a:solidFill>
                            <a:srgbClr val="000000"/>
                          </a:solidFill>
                          <a:effectLst/>
                          <a:uFillTx/>
                          <a:latin typeface="Arial"/>
                          <a:ea typeface="Arial"/>
                        </a:rPr>
                        <a:t>Mr. Mayank Gupta</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400" b="0" u="none" strike="noStrike">
                          <a:solidFill>
                            <a:srgbClr val="000000"/>
                          </a:solidFill>
                          <a:effectLst/>
                          <a:uFillTx/>
                          <a:latin typeface="Arial"/>
                          <a:ea typeface="Arial"/>
                        </a:rPr>
                        <a:t>Mayank.gupta024@gmail.com</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gn="ctr">
                        <a:lnSpc>
                          <a:spcPct val="100000"/>
                        </a:lnSpc>
                        <a:tabLst>
                          <a:tab pos="0" algn="l"/>
                        </a:tabLst>
                      </a:pPr>
                      <a:r>
                        <a:rPr lang="en-US" sz="1400" b="0" u="none" strike="noStrike">
                          <a:solidFill>
                            <a:srgbClr val="000000"/>
                          </a:solidFill>
                          <a:effectLst/>
                          <a:uFillTx/>
                          <a:latin typeface="Arial"/>
                          <a:ea typeface="Arial"/>
                        </a:rPr>
                        <a:t>7818815698</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0" name="TextBox 3"/>
          <p:cNvSpPr/>
          <p:nvPr/>
        </p:nvSpPr>
        <p:spPr>
          <a:xfrm>
            <a:off x="1206000" y="1460880"/>
            <a:ext cx="102798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Domain of  Project – </a:t>
            </a:r>
            <a:r>
              <a:rPr lang="en-US" sz="2400" b="1" u="none" strike="noStrike">
                <a:solidFill>
                  <a:srgbClr val="000000"/>
                </a:solidFill>
                <a:effectLst/>
                <a:highlight>
                  <a:srgbClr val="FFFF00"/>
                </a:highlight>
                <a:uFillTx/>
                <a:latin typeface="Arial"/>
                <a:ea typeface="Arial"/>
              </a:rPr>
              <a:t>[Healthcare]</a:t>
            </a:r>
            <a:endParaRPr lang="en-IN" sz="2400" b="0" u="none" strike="noStrike">
              <a:solidFill>
                <a:srgbClr val="000000"/>
              </a:solidFill>
              <a:effectLst/>
              <a:uFillTx/>
              <a:latin typeface="Arial"/>
            </a:endParaRPr>
          </a:p>
        </p:txBody>
      </p:sp>
      <p:sp>
        <p:nvSpPr>
          <p:cNvPr id="61" name="TextBox 6"/>
          <p:cNvSpPr/>
          <p:nvPr/>
        </p:nvSpPr>
        <p:spPr>
          <a:xfrm>
            <a:off x="1206000" y="551880"/>
            <a:ext cx="958068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Project Tile – </a:t>
            </a:r>
            <a:r>
              <a:rPr lang="en-US" sz="2400" b="1" u="none" strike="noStrike">
                <a:solidFill>
                  <a:srgbClr val="000000"/>
                </a:solidFill>
                <a:effectLst/>
                <a:highlight>
                  <a:srgbClr val="FFFF00"/>
                </a:highlight>
                <a:uFillTx/>
                <a:latin typeface="Arial"/>
                <a:ea typeface="Arial"/>
              </a:rPr>
              <a:t>[</a:t>
            </a:r>
            <a:r>
              <a:rPr lang="en-US" sz="2400" b="1" u="none" strike="noStrike">
                <a:solidFill>
                  <a:srgbClr val="002060"/>
                </a:solidFill>
                <a:effectLst/>
                <a:highlight>
                  <a:srgbClr val="FFFF00"/>
                </a:highlight>
                <a:uFillTx/>
                <a:latin typeface="Times New Roman"/>
                <a:ea typeface="Times New Roman"/>
              </a:rPr>
              <a:t>Nutrition Agent</a:t>
            </a:r>
            <a:r>
              <a:rPr lang="en-US" sz="2400" b="1" u="none" strike="noStrike">
                <a:solidFill>
                  <a:srgbClr val="000000"/>
                </a:solidFill>
                <a:effectLst/>
                <a:highlight>
                  <a:srgbClr val="FFFF00"/>
                </a:highlight>
                <a:uFillTx/>
                <a:latin typeface="Arial"/>
                <a:ea typeface="Arial"/>
              </a:rPr>
              <a:t>]</a:t>
            </a:r>
            <a:endParaRPr lang="en-IN" sz="2400" b="0" u="none" strike="noStrike">
              <a:solidFill>
                <a:srgbClr val="000000"/>
              </a:solidFill>
              <a:effectLst/>
              <a:uFillTx/>
              <a:latin typeface="Arial"/>
            </a:endParaRPr>
          </a:p>
        </p:txBody>
      </p:sp>
      <p:pic>
        <p:nvPicPr>
          <p:cNvPr id="62" name="Picture 4"/>
          <p:cNvPicPr/>
          <p:nvPr/>
        </p:nvPicPr>
        <p:blipFill>
          <a:blip r:embed="rId1"/>
          <a:stretch/>
        </p:blipFill>
        <p:spPr>
          <a:xfrm>
            <a:off x="3903480" y="3558600"/>
            <a:ext cx="1176840" cy="10656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TextBox 1"/>
          <p:cNvSpPr/>
          <p:nvPr/>
        </p:nvSpPr>
        <p:spPr>
          <a:xfrm>
            <a:off x="576000" y="1351080"/>
            <a:ext cx="10606680" cy="5047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Problem Statement : Nutrition Agent</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Challenge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Good nutrition is the foundation of health, but individuals often struggle with </a:t>
            </a:r>
            <a:r>
              <a:rPr lang="en-US" sz="1400" b="1" u="none" strike="noStrike">
                <a:solidFill>
                  <a:srgbClr val="000000"/>
                </a:solidFill>
                <a:effectLst/>
                <a:uFillTx/>
                <a:latin typeface="Arial"/>
                <a:ea typeface="Arial"/>
              </a:rPr>
              <a:t>diet planning, portion control, and tracking nutritional intake</a:t>
            </a:r>
            <a:r>
              <a:rPr lang="en-US" sz="1400" b="0" u="none" strike="noStrike">
                <a:solidFill>
                  <a:srgbClr val="000000"/>
                </a:solidFill>
                <a:effectLst/>
                <a:uFillTx/>
                <a:latin typeface="Arial"/>
                <a:ea typeface="Arial"/>
              </a:rPr>
              <a:t>. Information about healthy diets, disease-specific nutrition, and food composition is scattered across unreliable sources. Without </a:t>
            </a:r>
            <a:r>
              <a:rPr lang="en-US" sz="1400" b="1" u="none" strike="noStrike">
                <a:solidFill>
                  <a:srgbClr val="000000"/>
                </a:solidFill>
                <a:effectLst/>
                <a:uFillTx/>
                <a:latin typeface="Arial"/>
                <a:ea typeface="Arial"/>
              </a:rPr>
              <a:t>personalized, real-time guidance</a:t>
            </a:r>
            <a:r>
              <a:rPr lang="en-US" sz="1400" b="0" u="none" strike="noStrike">
                <a:solidFill>
                  <a:srgbClr val="000000"/>
                </a:solidFill>
                <a:effectLst/>
                <a:uFillTx/>
                <a:latin typeface="Arial"/>
                <a:ea typeface="Arial"/>
              </a:rPr>
              <a:t>, many fail to maintain balanced diets or make informed food choices. </a:t>
            </a:r>
            <a:endParaRPr lang="en-IN" sz="1400" b="0" u="none" strike="noStrike">
              <a:solidFill>
                <a:srgbClr val="000000"/>
              </a:solidFill>
              <a:effectLst/>
              <a:uFillTx/>
              <a:latin typeface="Arial"/>
            </a:endParaRPr>
          </a:p>
          <a:p>
            <a:pPr algn="just">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Objective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Build an </a:t>
            </a:r>
            <a:r>
              <a:rPr lang="en-US" sz="1400" b="1" u="none" strike="noStrike">
                <a:solidFill>
                  <a:srgbClr val="000000"/>
                </a:solidFill>
                <a:effectLst/>
                <a:uFillTx/>
                <a:latin typeface="Arial"/>
                <a:ea typeface="Arial"/>
              </a:rPr>
              <a:t>AI-powered Nutrition Agent</a:t>
            </a:r>
            <a:r>
              <a:rPr lang="en-US" sz="1400" b="0" u="none" strike="noStrike">
                <a:solidFill>
                  <a:srgbClr val="000000"/>
                </a:solidFill>
                <a:effectLst/>
                <a:uFillTx/>
                <a:latin typeface="Arial"/>
                <a:ea typeface="Arial"/>
              </a:rPr>
              <a:t> that delivers </a:t>
            </a:r>
            <a:r>
              <a:rPr lang="en-US" sz="1400" b="1" u="none" strike="noStrike">
                <a:solidFill>
                  <a:srgbClr val="000000"/>
                </a:solidFill>
                <a:effectLst/>
                <a:uFillTx/>
                <a:latin typeface="Arial"/>
                <a:ea typeface="Arial"/>
              </a:rPr>
              <a:t>personalized dietary insights and guidance</a:t>
            </a:r>
            <a:r>
              <a:rPr lang="en-US" sz="1400" b="0" u="none" strike="noStrike">
                <a:solidFill>
                  <a:srgbClr val="000000"/>
                </a:solidFill>
                <a:effectLst/>
                <a:uFillTx/>
                <a:latin typeface="Arial"/>
                <a:ea typeface="Arial"/>
              </a:rPr>
              <a:t> for individuals, families, and health professionals. The solution should: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Personalized Diet Plans</a:t>
            </a:r>
            <a:r>
              <a:rPr lang="en-US" sz="1400" b="0" u="none" strike="noStrike">
                <a:solidFill>
                  <a:srgbClr val="000000"/>
                </a:solidFill>
                <a:effectLst/>
                <a:uFillTx/>
                <a:latin typeface="Arial"/>
                <a:ea typeface="Arial"/>
              </a:rPr>
              <a:t> – Recommend meals based on age, health conditions, allergies, cultural preferences, and fitness goals.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Food Data RAG Retrieval</a:t>
            </a:r>
            <a:r>
              <a:rPr lang="en-US" sz="1400" b="0" u="none" strike="noStrike">
                <a:solidFill>
                  <a:srgbClr val="000000"/>
                </a:solidFill>
                <a:effectLst/>
                <a:uFillTx/>
                <a:latin typeface="Arial"/>
                <a:ea typeface="Arial"/>
              </a:rPr>
              <a:t> – Fetch and summarize nutritional values (calories, macros, vitamins) from reliable sources.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Diet Tracking &amp; Feedback</a:t>
            </a:r>
            <a:r>
              <a:rPr lang="en-US" sz="1400" b="0" u="none" strike="noStrike">
                <a:solidFill>
                  <a:srgbClr val="000000"/>
                </a:solidFill>
                <a:effectLst/>
                <a:uFillTx/>
                <a:latin typeface="Arial"/>
                <a:ea typeface="Arial"/>
              </a:rPr>
              <a:t> – Allow users to log meals via text, images, or voice, and provide instant nutritional analysis.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Preventive Health Focus</a:t>
            </a:r>
            <a:r>
              <a:rPr lang="en-US" sz="1400" b="0" u="none" strike="noStrike">
                <a:solidFill>
                  <a:srgbClr val="000000"/>
                </a:solidFill>
                <a:effectLst/>
                <a:uFillTx/>
                <a:latin typeface="Arial"/>
                <a:ea typeface="Arial"/>
              </a:rPr>
              <a:t> – Suggest diets for chronic disease management (e.g., diabetes-friendly or heart-healthy plans).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Multi-Agent System</a:t>
            </a:r>
            <a:r>
              <a:rPr lang="en-US" sz="1400" b="0" u="none" strike="noStrike">
                <a:solidFill>
                  <a:srgbClr val="000000"/>
                </a:solidFill>
                <a:effectLst/>
                <a:uFillTx/>
                <a:latin typeface="Arial"/>
                <a:ea typeface="Arial"/>
              </a:rPr>
              <a:t> –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Nutrition Knowledge Agent</a:t>
            </a:r>
            <a:r>
              <a:rPr lang="en-US" sz="1400" b="0" u="none" strike="noStrike">
                <a:solidFill>
                  <a:srgbClr val="000000"/>
                </a:solidFill>
                <a:effectLst/>
                <a:uFillTx/>
                <a:latin typeface="Arial"/>
                <a:ea typeface="Arial"/>
              </a:rPr>
              <a:t> (fetches nutritional data)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Diet Recommendation Agent</a:t>
            </a:r>
            <a:r>
              <a:rPr lang="en-US" sz="1400" b="0" u="none" strike="noStrike">
                <a:solidFill>
                  <a:srgbClr val="000000"/>
                </a:solidFill>
                <a:effectLst/>
                <a:uFillTx/>
                <a:latin typeface="Arial"/>
                <a:ea typeface="Arial"/>
              </a:rPr>
              <a:t> (personalized meal plans)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Health Advisory Agent</a:t>
            </a:r>
            <a:r>
              <a:rPr lang="en-US" sz="1400" b="0" u="none" strike="noStrike">
                <a:solidFill>
                  <a:srgbClr val="000000"/>
                </a:solidFill>
                <a:effectLst/>
                <a:uFillTx/>
                <a:latin typeface="Arial"/>
                <a:ea typeface="Arial"/>
              </a:rPr>
              <a:t> (preventive health suggestions)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Food Log &amp; Feedback Agent</a:t>
            </a:r>
            <a:r>
              <a:rPr lang="en-US" sz="1400" b="0" u="none" strike="noStrike">
                <a:solidFill>
                  <a:srgbClr val="000000"/>
                </a:solidFill>
                <a:effectLst/>
                <a:uFillTx/>
                <a:latin typeface="Arial"/>
                <a:ea typeface="Arial"/>
              </a:rPr>
              <a:t> (meal tracking + analysis)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Visualization Dashboard</a:t>
            </a:r>
            <a:r>
              <a:rPr lang="en-US" sz="1400" b="0" u="none" strike="noStrike">
                <a:solidFill>
                  <a:srgbClr val="000000"/>
                </a:solidFill>
                <a:effectLst/>
                <a:uFillTx/>
                <a:latin typeface="Arial"/>
                <a:ea typeface="Arial"/>
              </a:rPr>
              <a:t> – Show daily/weekly nutrient intake, deficiencies, and progress toward health goals.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4"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910080" y="1049040"/>
            <a:ext cx="10606680" cy="2031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a:lnSpc>
                <a:spcPct val="100000"/>
              </a:lnSpc>
            </a:pPr>
            <a:r>
              <a:rPr lang="en-IN" sz="1400" b="1" u="none" strike="noStrike">
                <a:solidFill>
                  <a:srgbClr val="000000"/>
                </a:solidFill>
                <a:effectLst/>
                <a:uFillTx/>
                <a:latin typeface="Arial"/>
                <a:ea typeface="Arial"/>
              </a:rPr>
              <a:t>Tech Stack (Mandatory)</a:t>
            </a:r>
            <a:r>
              <a:rPr lang="en-IN"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I used LangFlow + IBM watsonx.ai + Granite Models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6" name="TextBox 2"/>
          <p:cNvSpPr/>
          <p:nvPr/>
        </p:nvSpPr>
        <p:spPr>
          <a:xfrm>
            <a:off x="675000" y="50688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Technology Used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576000" y="1234440"/>
            <a:ext cx="10606680" cy="5262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Proposed Solution: AI-Powered Nutrition Agent</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The proposed solution is a </a:t>
            </a:r>
            <a:r>
              <a:rPr lang="en-US" sz="1400" b="1" u="none" strike="noStrike">
                <a:solidFill>
                  <a:srgbClr val="000000"/>
                </a:solidFill>
                <a:effectLst/>
                <a:uFillTx/>
                <a:latin typeface="Arial"/>
                <a:ea typeface="Arial"/>
              </a:rPr>
              <a:t>multi-agent AI-powered Nutrition Agent</a:t>
            </a:r>
            <a:r>
              <a:rPr lang="en-US" sz="1400" b="0" u="none" strike="noStrike">
                <a:solidFill>
                  <a:srgbClr val="000000"/>
                </a:solidFill>
                <a:effectLst/>
                <a:uFillTx/>
                <a:latin typeface="Arial"/>
                <a:ea typeface="Arial"/>
              </a:rPr>
              <a:t> built using </a:t>
            </a:r>
            <a:r>
              <a:rPr lang="en-US" sz="1400" b="1" u="none" strike="noStrike">
                <a:solidFill>
                  <a:srgbClr val="000000"/>
                </a:solidFill>
                <a:effectLst/>
                <a:uFillTx/>
                <a:latin typeface="Arial"/>
                <a:ea typeface="Arial"/>
              </a:rPr>
              <a:t>LangFlow, IBM watsonx.ai, and Granite Models</a:t>
            </a:r>
            <a:r>
              <a:rPr lang="en-US" sz="1400" b="0" u="none" strike="noStrike">
                <a:solidFill>
                  <a:srgbClr val="000000"/>
                </a:solidFill>
                <a:effectLst/>
                <a:uFillTx/>
                <a:latin typeface="Arial"/>
                <a:ea typeface="Arial"/>
              </a:rPr>
              <a:t> to provide personalized, real-time dietary guidance. The system addresses challenges in diet planning, nutrition tracking, and preventive healthcare through an intelligent, modular architecture.</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At its core, the solution uses a </a:t>
            </a:r>
            <a:r>
              <a:rPr lang="en-US" sz="1400" b="1" u="none" strike="noStrike">
                <a:solidFill>
                  <a:srgbClr val="000000"/>
                </a:solidFill>
                <a:effectLst/>
                <a:uFillTx/>
                <a:latin typeface="Arial"/>
                <a:ea typeface="Arial"/>
              </a:rPr>
              <a:t>Retrieval-Augmented Generation (RAG)</a:t>
            </a:r>
            <a:r>
              <a:rPr lang="en-US" sz="1400" b="0" u="none" strike="noStrike">
                <a:solidFill>
                  <a:srgbClr val="000000"/>
                </a:solidFill>
                <a:effectLst/>
                <a:uFillTx/>
                <a:latin typeface="Arial"/>
                <a:ea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The system consists of four key agents:</a:t>
            </a:r>
            <a:endParaRPr lang="en-IN" sz="1400" b="0" u="none" strike="noStrike">
              <a:solidFill>
                <a:srgbClr val="000000"/>
              </a:solidFill>
              <a:effectLst/>
              <a:uFillTx/>
              <a:latin typeface="Arial"/>
            </a:endParaRPr>
          </a:p>
          <a:p>
            <a:pPr algn="just">
              <a:lnSpc>
                <a:spcPct val="100000"/>
              </a:lnSpc>
            </a:pPr>
            <a:r>
              <a:rPr lang="en-US" sz="1400" b="1" u="none" strike="noStrike">
                <a:solidFill>
                  <a:srgbClr val="000000"/>
                </a:solidFill>
                <a:effectLst/>
                <a:uFillTx/>
                <a:latin typeface="Arial"/>
                <a:ea typeface="Arial"/>
              </a:rPr>
              <a:t>Nutrition Knowledge Agent</a:t>
            </a:r>
            <a:r>
              <a:rPr lang="en-US" sz="1400" b="0" u="none" strike="noStrike">
                <a:solidFill>
                  <a:srgbClr val="000000"/>
                </a:solidFill>
                <a:effectLst/>
                <a:uFillTx/>
                <a:latin typeface="Arial"/>
                <a:ea typeface="Arial"/>
              </a:rPr>
              <a:t> retrieves and summarizes nutritional information using RAG. </a:t>
            </a:r>
            <a:endParaRPr lang="en-IN" sz="1400" b="0" u="none" strike="noStrike">
              <a:solidFill>
                <a:srgbClr val="000000"/>
              </a:solidFill>
              <a:effectLst/>
              <a:uFillTx/>
              <a:latin typeface="Arial"/>
            </a:endParaRPr>
          </a:p>
          <a:p>
            <a:pPr algn="just">
              <a:lnSpc>
                <a:spcPct val="100000"/>
              </a:lnSpc>
            </a:pPr>
            <a:r>
              <a:rPr lang="en-US" sz="1400" b="1" u="none" strike="noStrike">
                <a:solidFill>
                  <a:srgbClr val="000000"/>
                </a:solidFill>
                <a:effectLst/>
                <a:uFillTx/>
                <a:latin typeface="Arial"/>
                <a:ea typeface="Arial"/>
              </a:rPr>
              <a:t>Diet Recommendation Agent</a:t>
            </a:r>
            <a:r>
              <a:rPr lang="en-US" sz="1400" b="0" u="none" strike="noStrike">
                <a:solidFill>
                  <a:srgbClr val="000000"/>
                </a:solidFill>
                <a:effectLst/>
                <a:uFillTx/>
                <a:latin typeface="Arial"/>
                <a:ea typeface="Arial"/>
              </a:rPr>
              <a:t> generates personalized meal plans based on user inputs such as age, health conditions, dietary preferences, and fitness goals. </a:t>
            </a:r>
            <a:endParaRPr lang="en-IN" sz="1400" b="0" u="none" strike="noStrike">
              <a:solidFill>
                <a:srgbClr val="000000"/>
              </a:solidFill>
              <a:effectLst/>
              <a:uFillTx/>
              <a:latin typeface="Arial"/>
            </a:endParaRPr>
          </a:p>
          <a:p>
            <a:pPr algn="just">
              <a:lnSpc>
                <a:spcPct val="100000"/>
              </a:lnSpc>
            </a:pPr>
            <a:r>
              <a:rPr lang="en-US" sz="1400" b="1" u="none" strike="noStrike">
                <a:solidFill>
                  <a:srgbClr val="000000"/>
                </a:solidFill>
                <a:effectLst/>
                <a:uFillTx/>
                <a:latin typeface="Arial"/>
                <a:ea typeface="Arial"/>
              </a:rPr>
              <a:t>Health Advisory Agent</a:t>
            </a:r>
            <a:r>
              <a:rPr lang="en-US" sz="1400" b="0" u="none" strike="noStrike">
                <a:solidFill>
                  <a:srgbClr val="000000"/>
                </a:solidFill>
                <a:effectLst/>
                <a:uFillTx/>
                <a:latin typeface="Arial"/>
                <a:ea typeface="Arial"/>
              </a:rPr>
              <a:t> provides preventive health suggestions, including disease-specific diets (e.g., diabetes-friendly or heart-healthy plans). </a:t>
            </a:r>
            <a:endParaRPr lang="en-IN" sz="1400" b="0" u="none" strike="noStrike">
              <a:solidFill>
                <a:srgbClr val="000000"/>
              </a:solidFill>
              <a:effectLst/>
              <a:uFillTx/>
              <a:latin typeface="Arial"/>
            </a:endParaRPr>
          </a:p>
          <a:p>
            <a:pPr algn="just">
              <a:lnSpc>
                <a:spcPct val="100000"/>
              </a:lnSpc>
            </a:pPr>
            <a:r>
              <a:rPr lang="en-US" sz="1400" b="1" u="none" strike="noStrike">
                <a:solidFill>
                  <a:srgbClr val="000000"/>
                </a:solidFill>
                <a:effectLst/>
                <a:uFillTx/>
                <a:latin typeface="Arial"/>
                <a:ea typeface="Arial"/>
              </a:rPr>
              <a:t>Food Log &amp; Feedback Agent</a:t>
            </a:r>
            <a:r>
              <a:rPr lang="en-US" sz="1400" b="0" u="none" strike="noStrike">
                <a:solidFill>
                  <a:srgbClr val="000000"/>
                </a:solidFill>
                <a:effectLst/>
                <a:uFillTx/>
                <a:latin typeface="Arial"/>
                <a:ea typeface="Arial"/>
              </a:rPr>
              <a:t> allows users to log meals via text, voice, or images and delivers instant nutritional analysis with actionable feedback. </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The solution includes a </a:t>
            </a:r>
            <a:r>
              <a:rPr lang="en-US" sz="1400" b="1" u="none" strike="noStrike">
                <a:solidFill>
                  <a:srgbClr val="000000"/>
                </a:solidFill>
                <a:effectLst/>
                <a:uFillTx/>
                <a:latin typeface="Arial"/>
                <a:ea typeface="Arial"/>
              </a:rPr>
              <a:t>user-friendly dashboard</a:t>
            </a:r>
            <a:r>
              <a:rPr lang="en-US" sz="1400" b="0" u="none" strike="noStrike">
                <a:solidFill>
                  <a:srgbClr val="000000"/>
                </a:solidFill>
                <a:effectLst/>
                <a:uFillTx/>
                <a:latin typeface="Arial"/>
                <a:ea typeface="Arial"/>
              </a:rPr>
              <a:t> (built with Streamlit or React) that visualizes daily and weekly nutrient intake, highlights deficiencies, and tracks progress toward health goals.</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LangFlow is used to orchestrate agent workflows, while watsonx.ai ensures scalable model deployment, embeddings, and AI governance. Granite models power reasoning, summarization, and personalization.</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Overall, this solution delivers an </a:t>
            </a:r>
            <a:r>
              <a:rPr lang="en-US" sz="1400" b="1" u="none" strike="noStrike">
                <a:solidFill>
                  <a:srgbClr val="000000"/>
                </a:solidFill>
                <a:effectLst/>
                <a:uFillTx/>
                <a:latin typeface="Arial"/>
                <a:ea typeface="Arial"/>
              </a:rPr>
              <a:t>end-to-end intelligent nutrition assistant</a:t>
            </a:r>
            <a:r>
              <a:rPr lang="en-US" sz="1400" b="0" u="none" strike="noStrike">
                <a:solidFill>
                  <a:srgbClr val="000000"/>
                </a:solidFill>
                <a:effectLst/>
                <a:uFillTx/>
                <a:latin typeface="Arial"/>
                <a:ea typeface="Arial"/>
              </a:rPr>
              <a:t> that promotes healthier lifestyles through personalized insights, real-time feedback, and preventive healthcare recommendations.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8"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component Used -</a:t>
            </a:r>
            <a:endParaRPr lang="en-IN" sz="2400" b="0" u="none" strike="noStrike">
              <a:solidFill>
                <a:srgbClr val="000000"/>
              </a:solidFill>
              <a:effectLst/>
              <a:uFillTx/>
              <a:latin typeface="Arial"/>
            </a:endParaRPr>
          </a:p>
        </p:txBody>
      </p:sp>
      <p:sp>
        <p:nvSpPr>
          <p:cNvPr id="70" name="Google Shape;148;p5"/>
          <p:cNvSpPr/>
          <p:nvPr/>
        </p:nvSpPr>
        <p:spPr>
          <a:xfrm>
            <a:off x="2264400" y="6784560"/>
            <a:ext cx="214056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1" name="Google Shape;149;p5"/>
          <p:cNvSpPr/>
          <p:nvPr/>
        </p:nvSpPr>
        <p:spPr>
          <a:xfrm>
            <a:off x="178272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2" name="Google Shape;150;p5"/>
          <p:cNvSpPr/>
          <p:nvPr/>
        </p:nvSpPr>
        <p:spPr>
          <a:xfrm>
            <a:off x="5732280" y="6784560"/>
            <a:ext cx="179352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3" name="Google Shape;151;p5"/>
          <p:cNvSpPr/>
          <p:nvPr/>
        </p:nvSpPr>
        <p:spPr>
          <a:xfrm>
            <a:off x="507744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4" name="Google Shape;152;p5"/>
          <p:cNvSpPr/>
          <p:nvPr/>
        </p:nvSpPr>
        <p:spPr>
          <a:xfrm>
            <a:off x="9027000" y="6784560"/>
            <a:ext cx="179352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5" name="Google Shape;153;p5"/>
          <p:cNvSpPr/>
          <p:nvPr/>
        </p:nvSpPr>
        <p:spPr>
          <a:xfrm>
            <a:off x="837216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6" name="TextBox 1"/>
          <p:cNvSpPr/>
          <p:nvPr/>
        </p:nvSpPr>
        <p:spPr>
          <a:xfrm>
            <a:off x="474840" y="863280"/>
            <a:ext cx="8823600" cy="39700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1) Chat Input </a:t>
            </a:r>
            <a:r>
              <a:rPr lang="en-US" sz="1400" b="0" u="none" strike="noStrike">
                <a:solidFill>
                  <a:srgbClr val="000000"/>
                </a:solidFill>
                <a:effectLst/>
                <a:uFillTx/>
                <a:latin typeface="Arial"/>
                <a:ea typeface="Arial"/>
              </a:rPr>
              <a:t>– Interface where users enter their queries, preferences, or meal details (text/voice/image).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2) IBM watsonx AI Agent </a:t>
            </a:r>
            <a:r>
              <a:rPr lang="en-US" sz="1400" b="0" u="none" strike="noStrike">
                <a:solidFill>
                  <a:srgbClr val="000000"/>
                </a:solidFill>
                <a:effectLst/>
                <a:uFillTx/>
                <a:latin typeface="Arial"/>
                <a:ea typeface="Arial"/>
              </a:rPr>
              <a:t>- Processes user input using Granite models to generate personalized nutrition insights and recommendations.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3) Name of IBM Granite model - </a:t>
            </a:r>
            <a:r>
              <a:rPr lang="en-US" sz="1400" b="0" u="none" strike="noStrike">
                <a:solidFill>
                  <a:srgbClr val="000000"/>
                </a:solidFill>
                <a:effectLst/>
                <a:uFillTx/>
                <a:latin typeface="Arial"/>
                <a:ea typeface="Arial"/>
              </a:rPr>
              <a:t>Granite-4.0-8B-Instruct → Fast, efficient for real-time diet recommendations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4) Chat output -</a:t>
            </a:r>
            <a:r>
              <a:rPr lang="en-US" sz="1400" b="0" u="none" strike="noStrike">
                <a:solidFill>
                  <a:srgbClr val="000000"/>
                </a:solidFill>
                <a:effectLst/>
                <a:uFillTx/>
                <a:latin typeface="Arial"/>
                <a:ea typeface="Arial"/>
              </a:rPr>
              <a:t>Displays AI-generated responses such as diet plans, nutritional analysis, and health suggestions.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workflow -</a:t>
            </a:r>
            <a:endParaRPr lang="en-IN" sz="2400" b="0" u="none" strike="noStrike">
              <a:solidFill>
                <a:srgbClr val="000000"/>
              </a:solidFill>
              <a:effectLst/>
              <a:uFillTx/>
              <a:latin typeface="Arial"/>
            </a:endParaRPr>
          </a:p>
        </p:txBody>
      </p:sp>
      <p:pic>
        <p:nvPicPr>
          <p:cNvPr id="78" name="Picture 6"/>
          <p:cNvPicPr/>
          <p:nvPr/>
        </p:nvPicPr>
        <p:blipFill>
          <a:blip r:embed="rId1"/>
          <a:stretch/>
        </p:blipFill>
        <p:spPr>
          <a:xfrm>
            <a:off x="537480" y="1022040"/>
            <a:ext cx="10945440" cy="52887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Google Shape;178;p7"/>
          <p:cNvPicPr/>
          <p:nvPr/>
        </p:nvPicPr>
        <p:blipFill>
          <a:blip r:embed="rId1"/>
          <a:stretch/>
        </p:blipFill>
        <p:spPr>
          <a:xfrm>
            <a:off x="699120" y="1071360"/>
            <a:ext cx="10428840" cy="5612400"/>
          </a:xfrm>
          <a:prstGeom prst="rect">
            <a:avLst/>
          </a:prstGeom>
          <a:noFill/>
          <a:ln w="0">
            <a:noFill/>
          </a:ln>
        </p:spPr>
      </p:pic>
      <p:sp>
        <p:nvSpPr>
          <p:cNvPr id="80"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400" b="1" u="none" strike="noStrike">
                <a:solidFill>
                  <a:schemeClr val="dk1"/>
                </a:solidFill>
                <a:effectLst/>
                <a:uFillTx/>
                <a:latin typeface="Calibri"/>
                <a:ea typeface="Calibri"/>
              </a:rPr>
              <a:t>Architecture blueprint</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Google Shape;196;p9"/>
          <p:cNvPicPr/>
          <p:nvPr/>
        </p:nvPicPr>
        <p:blipFill>
          <a:blip r:embed="rId1"/>
          <a:stretch/>
        </p:blipFill>
        <p:spPr>
          <a:xfrm>
            <a:off x="8372160" y="1167480"/>
            <a:ext cx="3015000" cy="4522680"/>
          </a:xfrm>
          <a:prstGeom prst="rect">
            <a:avLst/>
          </a:prstGeom>
          <a:noFill/>
          <a:ln w="0">
            <a:noFill/>
          </a:ln>
        </p:spPr>
      </p:pic>
      <p:sp>
        <p:nvSpPr>
          <p:cNvPr id="82" name="TextBox 1"/>
          <p:cNvSpPr/>
          <p:nvPr/>
        </p:nvSpPr>
        <p:spPr>
          <a:xfrm>
            <a:off x="475560" y="283320"/>
            <a:ext cx="9317520" cy="584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IN" sz="3200" b="0" u="none" strike="noStrike">
              <a:solidFill>
                <a:srgbClr val="000000"/>
              </a:solidFill>
              <a:effectLst/>
              <a:uFillTx/>
              <a:latin typeface="Arial"/>
            </a:endParaRPr>
          </a:p>
        </p:txBody>
      </p:sp>
      <p:sp>
        <p:nvSpPr>
          <p:cNvPr id="83" name="TextBox 2"/>
          <p:cNvSpPr/>
          <p:nvPr/>
        </p:nvSpPr>
        <p:spPr>
          <a:xfrm>
            <a:off x="621720" y="1167480"/>
            <a:ext cx="7406280" cy="3108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Role of Agentic AI in Nutrition Agent</a:t>
            </a:r>
            <a:endParaRPr lang="en-IN" sz="1400" b="0" u="none" strike="noStrike">
              <a:solidFill>
                <a:srgbClr val="000000"/>
              </a:solidFill>
              <a:effectLst/>
              <a:uFillTx/>
              <a:latin typeface="Arial"/>
            </a:endParaRPr>
          </a:p>
          <a:p>
            <a:pPr algn="just">
              <a:lnSpc>
                <a:spcPct val="100000"/>
              </a:lnSpc>
            </a:pPr>
            <a:r>
              <a:rPr lang="en-US" sz="1400" b="1" u="none" strike="noStrike">
                <a:solidFill>
                  <a:srgbClr val="000000"/>
                </a:solidFill>
                <a:effectLst/>
                <a:uFillTx/>
                <a:latin typeface="Arial"/>
                <a:ea typeface="Arial"/>
              </a:rPr>
              <a:t>Agentic AI</a:t>
            </a:r>
            <a:r>
              <a:rPr lang="en-US" sz="1400" b="0" u="none" strike="noStrike">
                <a:solidFill>
                  <a:srgbClr val="000000"/>
                </a:solidFill>
                <a:effectLst/>
                <a:uFillTx/>
                <a:latin typeface="Arial"/>
                <a:ea typeface="Arial"/>
              </a:rPr>
              <a:t> enables the Nutrition Agent to function as an intelligent, autonomous system rather than a simple chatbot. Using </a:t>
            </a:r>
            <a:r>
              <a:rPr lang="en-US" sz="1400" b="1" u="none" strike="noStrike">
                <a:solidFill>
                  <a:srgbClr val="000000"/>
                </a:solidFill>
                <a:effectLst/>
                <a:uFillTx/>
                <a:latin typeface="Arial"/>
                <a:ea typeface="Arial"/>
              </a:rPr>
              <a:t>IBM watsonx.ai</a:t>
            </a:r>
            <a:r>
              <a:rPr lang="en-US" sz="1400" b="0" u="none" strike="noStrike">
                <a:solidFill>
                  <a:srgbClr val="000000"/>
                </a:solidFill>
                <a:effectLst/>
                <a:uFillTx/>
                <a:latin typeface="Arial"/>
                <a:ea typeface="Arial"/>
              </a:rPr>
              <a:t> and </a:t>
            </a:r>
            <a:r>
              <a:rPr lang="en-US" sz="1400" b="1" u="none" strike="noStrike">
                <a:solidFill>
                  <a:srgbClr val="000000"/>
                </a:solidFill>
                <a:effectLst/>
                <a:uFillTx/>
                <a:latin typeface="Arial"/>
                <a:ea typeface="Arial"/>
              </a:rPr>
              <a:t>IBM Granite models</a:t>
            </a:r>
            <a:r>
              <a:rPr lang="en-US" sz="1400" b="0" u="none" strike="noStrike">
                <a:solidFill>
                  <a:srgbClr val="000000"/>
                </a:solidFill>
                <a:effectLst/>
                <a:uFillTx/>
                <a:latin typeface="Arial"/>
                <a:ea typeface="Arial"/>
              </a:rPr>
              <a:t>, it coordinates multiple specialized agents to deliver personalized nutrition guidance.</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Each agent performs a specific role—such as retrieving nutritional data, generating diet plans, providing health advice, and analyzing food logs—while working collaboratively. This </a:t>
            </a:r>
            <a:r>
              <a:rPr lang="en-US" sz="1400" b="1" u="none" strike="noStrike">
                <a:solidFill>
                  <a:srgbClr val="000000"/>
                </a:solidFill>
                <a:effectLst/>
                <a:uFillTx/>
                <a:latin typeface="Arial"/>
                <a:ea typeface="Arial"/>
              </a:rPr>
              <a:t>multi-agent approach</a:t>
            </a:r>
            <a:r>
              <a:rPr lang="en-US" sz="1400" b="0" u="none" strike="noStrike">
                <a:solidFill>
                  <a:srgbClr val="000000"/>
                </a:solidFill>
                <a:effectLst/>
                <a:uFillTx/>
                <a:latin typeface="Arial"/>
                <a:ea typeface="Arial"/>
              </a:rPr>
              <a:t> ensures efficient task execution and accurate results.</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Agentic AI also brings </a:t>
            </a:r>
            <a:r>
              <a:rPr lang="en-US" sz="1400" b="1" u="none" strike="noStrike">
                <a:solidFill>
                  <a:srgbClr val="000000"/>
                </a:solidFill>
                <a:effectLst/>
                <a:uFillTx/>
                <a:latin typeface="Arial"/>
                <a:ea typeface="Arial"/>
              </a:rPr>
              <a:t>context awareness</a:t>
            </a:r>
            <a:r>
              <a:rPr lang="en-US" sz="1400" b="0" u="none" strike="noStrike">
                <a:solidFill>
                  <a:srgbClr val="000000"/>
                </a:solidFill>
                <a:effectLst/>
                <a:uFillTx/>
                <a:latin typeface="Arial"/>
                <a:ea typeface="Arial"/>
              </a:rPr>
              <a:t>, understanding user details like age, health conditions, and fitness goals to generate tailored recommendations. It supports </a:t>
            </a:r>
            <a:r>
              <a:rPr lang="en-US" sz="1400" b="1" u="none" strike="noStrike">
                <a:solidFill>
                  <a:srgbClr val="000000"/>
                </a:solidFill>
                <a:effectLst/>
                <a:uFillTx/>
                <a:latin typeface="Arial"/>
                <a:ea typeface="Arial"/>
              </a:rPr>
              <a:t>real-time adaptation</a:t>
            </a:r>
            <a:r>
              <a:rPr lang="en-US" sz="1400" b="0" u="none" strike="noStrike">
                <a:solidFill>
                  <a:srgbClr val="000000"/>
                </a:solidFill>
                <a:effectLst/>
                <a:uFillTx/>
                <a:latin typeface="Arial"/>
                <a:ea typeface="Arial"/>
              </a:rPr>
              <a:t>, continuously updating suggestions based on user inputs like daily meals.</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Additionally, agents communicate with each other, enabling better decision-making and improved outcomes.</a:t>
            </a:r>
            <a:endParaRPr lang="en-IN" sz="1400" b="0" u="none" strike="noStrike">
              <a:solidFill>
                <a:srgbClr val="000000"/>
              </a:solidFill>
              <a:effectLst/>
              <a:uFillTx/>
              <a:latin typeface="Arial"/>
            </a:endParaRPr>
          </a:p>
          <a:p>
            <a:pPr algn="just">
              <a:lnSpc>
                <a:spcPct val="100000"/>
              </a:lnSpc>
            </a:pPr>
            <a:r>
              <a:rPr lang="en-US" sz="1400" b="0" u="none" strike="noStrike">
                <a:solidFill>
                  <a:srgbClr val="000000"/>
                </a:solidFill>
                <a:effectLst/>
                <a:uFillTx/>
                <a:latin typeface="Arial"/>
                <a:ea typeface="Arial"/>
              </a:rPr>
              <a:t>Overall, Agentic AI makes the system proactive, personalized, and goal-driven, acting like a </a:t>
            </a:r>
            <a:r>
              <a:rPr lang="en-US" sz="1400" b="1" u="none" strike="noStrike">
                <a:solidFill>
                  <a:srgbClr val="000000"/>
                </a:solidFill>
                <a:effectLst/>
                <a:uFillTx/>
                <a:latin typeface="Arial"/>
                <a:ea typeface="Arial"/>
              </a:rPr>
              <a:t>smart digital nutritionist</a:t>
            </a:r>
            <a:r>
              <a:rPr lang="en-US" sz="1400" b="0" u="none" strike="noStrike">
                <a:solidFill>
                  <a:srgbClr val="000000"/>
                </a:solidFill>
                <a:effectLst/>
                <a:uFillTx/>
                <a:latin typeface="Arial"/>
                <a:ea typeface="Arial"/>
              </a:rPr>
              <a:t> that helps users maintain a healthy lifestyle.</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Box 1"/>
          <p:cNvSpPr/>
          <p:nvPr/>
        </p:nvSpPr>
        <p:spPr>
          <a:xfrm>
            <a:off x="777240" y="484560"/>
            <a:ext cx="712296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Technology Used</a:t>
            </a:r>
            <a:endParaRPr lang="en-IN" sz="2400" b="0" u="none" strike="noStrike">
              <a:solidFill>
                <a:srgbClr val="000000"/>
              </a:solidFill>
              <a:effectLst/>
              <a:uFillTx/>
              <a:latin typeface="Arial"/>
            </a:endParaRPr>
          </a:p>
        </p:txBody>
      </p:sp>
      <p:sp>
        <p:nvSpPr>
          <p:cNvPr id="85" name="TextBox 2"/>
          <p:cNvSpPr/>
          <p:nvPr/>
        </p:nvSpPr>
        <p:spPr>
          <a:xfrm>
            <a:off x="777240" y="1207080"/>
            <a:ext cx="10515240" cy="3846960"/>
          </a:xfrm>
          <a:prstGeom prst="rect">
            <a:avLst/>
          </a:prstGeom>
          <a:noFill/>
          <a:ln w="0">
            <a:noFill/>
          </a:ln>
        </p:spPr>
        <p:style>
          <a:lnRef idx="0"/>
          <a:fillRef idx="0"/>
          <a:effectRef idx="0"/>
          <a:fontRef idx="minor"/>
        </p:style>
        <p:txBody>
          <a:bodyPr lIns="90000" tIns="45000" rIns="90000" bIns="45000" anchor="t">
            <a:spAutoFit/>
          </a:bodyPr>
          <a:p>
            <a:pPr marL="285840" indent="-285840" algn="just">
              <a:lnSpc>
                <a:spcPct val="100000"/>
              </a:lnSpc>
              <a:buClr>
                <a:srgbClr val="000000"/>
              </a:buClr>
              <a:buFont typeface="Arial"/>
              <a:buChar char="•"/>
            </a:pPr>
            <a:r>
              <a:rPr lang="en-US" sz="1800" b="1" u="none" strike="noStrike">
                <a:solidFill>
                  <a:srgbClr val="000000"/>
                </a:solidFill>
                <a:effectLst/>
                <a:uFillTx/>
                <a:latin typeface="Arial"/>
                <a:ea typeface="Arial"/>
              </a:rPr>
              <a:t>Langflow platform </a:t>
            </a:r>
            <a:r>
              <a:rPr lang="en-US" sz="1800" b="0" u="none" strike="noStrike">
                <a:solidFill>
                  <a:srgbClr val="000000"/>
                </a:solidFill>
                <a:effectLst/>
                <a:uFillTx/>
                <a:latin typeface="Arial"/>
                <a:ea typeface="Arial"/>
              </a:rPr>
              <a:t>-For designing and orchestrating multi-agent workflows visually</a:t>
            </a:r>
            <a:endParaRPr lang="en-IN" sz="1800" b="0" u="none" strike="noStrike">
              <a:solidFill>
                <a:srgbClr val="000000"/>
              </a:solidFill>
              <a:effectLst/>
              <a:uFillTx/>
              <a:latin typeface="Arial"/>
            </a:endParaRPr>
          </a:p>
          <a:p>
            <a:pPr algn="just">
              <a:lnSpc>
                <a:spcPct val="100000"/>
              </a:lnSpc>
            </a:pPr>
            <a:endParaRPr lang="en-IN" sz="1800" b="0" u="none" strike="noStrike">
              <a:solidFill>
                <a:srgbClr val="000000"/>
              </a:solidFill>
              <a:effectLst/>
              <a:uFillTx/>
              <a:latin typeface="Arial"/>
            </a:endParaRPr>
          </a:p>
          <a:p>
            <a:pPr marL="285840" indent="-285840" algn="just">
              <a:lnSpc>
                <a:spcPct val="100000"/>
              </a:lnSpc>
              <a:buClr>
                <a:srgbClr val="000000"/>
              </a:buClr>
              <a:buFont typeface="Arial"/>
              <a:buChar char="•"/>
            </a:pPr>
            <a:r>
              <a:rPr lang="en-US" sz="1800" b="1" u="none" strike="noStrike">
                <a:solidFill>
                  <a:srgbClr val="000000"/>
                </a:solidFill>
                <a:effectLst/>
                <a:uFillTx/>
                <a:latin typeface="Arial"/>
                <a:ea typeface="Arial"/>
              </a:rPr>
              <a:t>IBM Grainte model </a:t>
            </a:r>
            <a:r>
              <a:rPr lang="en-US" sz="1800" b="0" u="none" strike="noStrike">
                <a:solidFill>
                  <a:srgbClr val="000000"/>
                </a:solidFill>
                <a:effectLst/>
                <a:uFillTx/>
                <a:latin typeface="Arial"/>
                <a:ea typeface="Arial"/>
              </a:rPr>
              <a:t>-  for eg – ibm-granite-4-h-Small – For natural language understanding, reasoning, and personalization</a:t>
            </a:r>
            <a:endParaRPr lang="en-IN" sz="1800" b="0" u="none" strike="noStrike">
              <a:solidFill>
                <a:srgbClr val="000000"/>
              </a:solidFill>
              <a:effectLst/>
              <a:uFillTx/>
              <a:latin typeface="Arial"/>
            </a:endParaRPr>
          </a:p>
          <a:p>
            <a:pPr algn="just">
              <a:lnSpc>
                <a:spcPct val="100000"/>
              </a:lnSpc>
            </a:pPr>
            <a:endParaRPr lang="en-IN" sz="1800" b="0" u="none" strike="noStrike">
              <a:solidFill>
                <a:srgbClr val="000000"/>
              </a:solidFill>
              <a:effectLst/>
              <a:uFillTx/>
              <a:latin typeface="Arial"/>
            </a:endParaRPr>
          </a:p>
          <a:p>
            <a:pPr marL="285840" indent="-285840" algn="just">
              <a:lnSpc>
                <a:spcPct val="100000"/>
              </a:lnSpc>
              <a:buClr>
                <a:srgbClr val="000000"/>
              </a:buClr>
              <a:buFont typeface="Arial"/>
              <a:buChar char="•"/>
            </a:pPr>
            <a:r>
              <a:rPr lang="en-US" sz="1800" b="1" u="none" strike="noStrike">
                <a:solidFill>
                  <a:srgbClr val="000000"/>
                </a:solidFill>
                <a:effectLst/>
                <a:uFillTx/>
                <a:latin typeface="Arial"/>
                <a:ea typeface="Arial"/>
              </a:rPr>
              <a:t>IBM Cloud </a:t>
            </a:r>
            <a:r>
              <a:rPr lang="en-US" sz="1800" b="0" u="none" strike="noStrike">
                <a:solidFill>
                  <a:srgbClr val="000000"/>
                </a:solidFill>
                <a:effectLst/>
                <a:uFillTx/>
                <a:latin typeface="Arial"/>
                <a:ea typeface="Arial"/>
              </a:rPr>
              <a:t>– It provides the infrastructure to build, deploy, and scale the Nutrition Agent efficiently. IBM Cloud enables a </a:t>
            </a:r>
            <a:r>
              <a:rPr lang="en-US" sz="1800" b="1" u="none" strike="noStrike">
                <a:solidFill>
                  <a:srgbClr val="000000"/>
                </a:solidFill>
                <a:effectLst/>
                <a:uFillTx/>
                <a:latin typeface="Arial"/>
                <a:ea typeface="Arial"/>
              </a:rPr>
              <a:t>reliable, secure, and scalable environment</a:t>
            </a:r>
            <a:r>
              <a:rPr lang="en-US" sz="1800" b="0" u="none" strike="noStrike">
                <a:solidFill>
                  <a:srgbClr val="000000"/>
                </a:solidFill>
                <a:effectLst/>
                <a:uFillTx/>
                <a:latin typeface="Arial"/>
                <a:ea typeface="Arial"/>
              </a:rPr>
              <a:t> for deploying the Nutrition Agent.</a:t>
            </a:r>
            <a:endParaRPr lang="en-IN" sz="1800" b="0" u="none" strike="noStrike">
              <a:solidFill>
                <a:srgbClr val="000000"/>
              </a:solidFill>
              <a:effectLst/>
              <a:uFillTx/>
              <a:latin typeface="Arial"/>
            </a:endParaRPr>
          </a:p>
          <a:p>
            <a:pPr algn="just">
              <a:lnSpc>
                <a:spcPct val="100000"/>
              </a:lnSpc>
            </a:pPr>
            <a:endParaRPr lang="en-IN" sz="1800" b="0" u="none" strike="noStrike">
              <a:solidFill>
                <a:srgbClr val="000000"/>
              </a:solidFill>
              <a:effectLst/>
              <a:uFillTx/>
              <a:latin typeface="Arial"/>
            </a:endParaRPr>
          </a:p>
          <a:p>
            <a:pPr marL="285840" indent="-285840" algn="just">
              <a:lnSpc>
                <a:spcPct val="100000"/>
              </a:lnSpc>
              <a:buClr>
                <a:srgbClr val="000000"/>
              </a:buClr>
              <a:buFont typeface="Arial"/>
              <a:buChar char="•"/>
            </a:pPr>
            <a:r>
              <a:rPr lang="en-US" sz="1800" b="1" u="none" strike="noStrike">
                <a:solidFill>
                  <a:srgbClr val="000000"/>
                </a:solidFill>
                <a:effectLst/>
                <a:uFillTx/>
                <a:latin typeface="Arial"/>
                <a:ea typeface="Arial"/>
              </a:rPr>
              <a:t>IBM Watsonx.ai - </a:t>
            </a:r>
            <a:r>
              <a:rPr lang="en-US" sz="1800" b="0" u="none" strike="noStrike">
                <a:solidFill>
                  <a:srgbClr val="000000"/>
                </a:solidFill>
                <a:effectLst/>
                <a:uFillTx/>
                <a:latin typeface="Arial"/>
                <a:ea typeface="Arial"/>
              </a:rPr>
              <a:t>For model deployment, embeddings, and AI governance</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Box 1"/>
          <p:cNvSpPr/>
          <p:nvPr/>
        </p:nvSpPr>
        <p:spPr>
          <a:xfrm>
            <a:off x="777240" y="484560"/>
            <a:ext cx="712296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IN" sz="2400" b="0" u="none" strike="noStrike">
              <a:solidFill>
                <a:srgbClr val="000000"/>
              </a:solidFill>
              <a:effectLst/>
              <a:uFillTx/>
              <a:latin typeface="Arial"/>
            </a:endParaRPr>
          </a:p>
        </p:txBody>
      </p:sp>
      <p:sp>
        <p:nvSpPr>
          <p:cNvPr id="87" name="TextBox 2"/>
          <p:cNvSpPr/>
          <p:nvPr/>
        </p:nvSpPr>
        <p:spPr>
          <a:xfrm>
            <a:off x="777240" y="1207080"/>
            <a:ext cx="10840680" cy="4462560"/>
          </a:xfrm>
          <a:prstGeom prst="rect">
            <a:avLst/>
          </a:prstGeom>
          <a:noFill/>
          <a:ln w="0">
            <a:noFill/>
          </a:ln>
        </p:spPr>
        <p:style>
          <a:lnRef idx="0"/>
          <a:fillRef idx="0"/>
          <a:effectRef idx="0"/>
          <a:fontRef idx="minor"/>
        </p:style>
        <p:txBody>
          <a:bodyPr lIns="90000" tIns="45000" rIns="90000" bIns="45000" anchor="t">
            <a:spAutoFit/>
          </a:bodyPr>
          <a:p>
            <a:pPr algn="just">
              <a:lnSpc>
                <a:spcPct val="100000"/>
              </a:lnSpc>
            </a:pPr>
            <a:r>
              <a:rPr lang="en-IN" sz="1800" b="0" u="none" strike="noStrike">
                <a:solidFill>
                  <a:srgbClr val="000000"/>
                </a:solidFill>
                <a:effectLst/>
                <a:uFillTx/>
                <a:latin typeface="Arial"/>
                <a:ea typeface="Arial"/>
              </a:rPr>
              <a:t>The proposed Nutrition Agent stands out by combining </a:t>
            </a:r>
            <a:r>
              <a:rPr lang="en-IN" sz="1800" b="1" u="none" strike="noStrike">
                <a:solidFill>
                  <a:srgbClr val="000000"/>
                </a:solidFill>
                <a:effectLst/>
                <a:uFillTx/>
                <a:latin typeface="Arial"/>
                <a:ea typeface="Arial"/>
              </a:rPr>
              <a:t>Agentic AI and personalization</a:t>
            </a:r>
            <a:r>
              <a:rPr lang="en-IN" sz="1800" b="0" u="none" strike="noStrike">
                <a:solidFill>
                  <a:srgbClr val="000000"/>
                </a:solidFill>
                <a:effectLst/>
                <a:uFillTx/>
                <a:latin typeface="Arial"/>
                <a:ea typeface="Arial"/>
              </a:rPr>
              <a:t> into a single intelligent system.</a:t>
            </a:r>
            <a:endParaRPr lang="en-IN" sz="1800" b="0" u="none" strike="noStrike">
              <a:solidFill>
                <a:srgbClr val="000000"/>
              </a:solidFill>
              <a:effectLst/>
              <a:uFillTx/>
              <a:latin typeface="Arial"/>
            </a:endParaRPr>
          </a:p>
          <a:p>
            <a:pPr algn="just">
              <a:lnSpc>
                <a:spcPct val="100000"/>
              </a:lnSpc>
            </a:pPr>
            <a:endParaRPr lang="en-IN" sz="1800" b="0" u="none" strike="noStrike">
              <a:solidFill>
                <a:srgbClr val="000000"/>
              </a:solidFill>
              <a:effectLst/>
              <a:uFillTx/>
              <a:latin typeface="Arial"/>
            </a:endParaRPr>
          </a:p>
          <a:p>
            <a:pPr algn="just">
              <a:lnSpc>
                <a:spcPct val="100000"/>
              </a:lnSpc>
            </a:pPr>
            <a:r>
              <a:rPr lang="en-IN" sz="1800" b="1" u="none" strike="noStrike">
                <a:solidFill>
                  <a:srgbClr val="000000"/>
                </a:solidFill>
                <a:effectLst/>
                <a:uFillTx/>
                <a:latin typeface="Arial"/>
                <a:ea typeface="Arial"/>
              </a:rPr>
              <a:t>Multi-Agent Intelligence</a:t>
            </a:r>
            <a:r>
              <a:rPr lang="en-IN" sz="1800" b="0" u="none" strike="noStrike">
                <a:solidFill>
                  <a:srgbClr val="000000"/>
                </a:solidFill>
                <a:effectLst/>
                <a:uFillTx/>
                <a:latin typeface="Arial"/>
                <a:ea typeface="Arial"/>
              </a:rPr>
              <a:t> – Instead of a single chatbot, multiple specialized agents collaborate to deliver accurate and context-aware nutrition guidance. </a:t>
            </a:r>
            <a:endParaRPr lang="en-IN" sz="1800" b="0" u="none" strike="noStrike">
              <a:solidFill>
                <a:srgbClr val="000000"/>
              </a:solidFill>
              <a:effectLst/>
              <a:uFillTx/>
              <a:latin typeface="Arial"/>
            </a:endParaRPr>
          </a:p>
          <a:p>
            <a:pPr algn="just">
              <a:lnSpc>
                <a:spcPct val="100000"/>
              </a:lnSpc>
            </a:pPr>
            <a:r>
              <a:rPr lang="en-IN" sz="1800" b="1" u="none" strike="noStrike">
                <a:solidFill>
                  <a:srgbClr val="000000"/>
                </a:solidFill>
                <a:effectLst/>
                <a:uFillTx/>
                <a:latin typeface="Arial"/>
                <a:ea typeface="Arial"/>
              </a:rPr>
              <a:t>Hyper-Personalization</a:t>
            </a:r>
            <a:r>
              <a:rPr lang="en-IN" sz="1800" b="0" u="none" strike="noStrike">
                <a:solidFill>
                  <a:srgbClr val="000000"/>
                </a:solidFill>
                <a:effectLst/>
                <a:uFillTx/>
                <a:latin typeface="Arial"/>
                <a:ea typeface="Arial"/>
              </a:rPr>
              <a:t> – Tailors diet plans based on health conditions, cultural preferences, and fitness goals. </a:t>
            </a:r>
            <a:endParaRPr lang="en-IN" sz="1800" b="0" u="none" strike="noStrike">
              <a:solidFill>
                <a:srgbClr val="000000"/>
              </a:solidFill>
              <a:effectLst/>
              <a:uFillTx/>
              <a:latin typeface="Arial"/>
            </a:endParaRPr>
          </a:p>
          <a:p>
            <a:pPr algn="just">
              <a:lnSpc>
                <a:spcPct val="100000"/>
              </a:lnSpc>
            </a:pPr>
            <a:r>
              <a:rPr lang="en-IN" sz="1800" b="1" u="none" strike="noStrike">
                <a:solidFill>
                  <a:srgbClr val="000000"/>
                </a:solidFill>
                <a:effectLst/>
                <a:uFillTx/>
                <a:latin typeface="Arial"/>
                <a:ea typeface="Arial"/>
              </a:rPr>
              <a:t>Real-Time Feedback Loop</a:t>
            </a:r>
            <a:r>
              <a:rPr lang="en-IN" sz="1800" b="0" u="none" strike="noStrike">
                <a:solidFill>
                  <a:srgbClr val="000000"/>
                </a:solidFill>
                <a:effectLst/>
                <a:uFillTx/>
                <a:latin typeface="Arial"/>
                <a:ea typeface="Arial"/>
              </a:rPr>
              <a:t> – Continuously adapts recommendations based on daily food logs and user behaviour. </a:t>
            </a:r>
            <a:endParaRPr lang="en-IN" sz="1800" b="0" u="none" strike="noStrike">
              <a:solidFill>
                <a:srgbClr val="000000"/>
              </a:solidFill>
              <a:effectLst/>
              <a:uFillTx/>
              <a:latin typeface="Arial"/>
            </a:endParaRPr>
          </a:p>
          <a:p>
            <a:pPr algn="just">
              <a:lnSpc>
                <a:spcPct val="100000"/>
              </a:lnSpc>
            </a:pPr>
            <a:r>
              <a:rPr lang="en-IN" sz="1800" b="1" u="none" strike="noStrike">
                <a:solidFill>
                  <a:srgbClr val="000000"/>
                </a:solidFill>
                <a:effectLst/>
                <a:uFillTx/>
                <a:latin typeface="Arial"/>
                <a:ea typeface="Arial"/>
              </a:rPr>
              <a:t>Preventive Healthcare Focus</a:t>
            </a:r>
            <a:r>
              <a:rPr lang="en-IN" sz="1800" b="0" u="none" strike="noStrike">
                <a:solidFill>
                  <a:srgbClr val="000000"/>
                </a:solidFill>
                <a:effectLst/>
                <a:uFillTx/>
                <a:latin typeface="Arial"/>
                <a:ea typeface="Arial"/>
              </a:rPr>
              <a:t> – Goes beyond diet planning to provide disease-specific nutrition advice. </a:t>
            </a:r>
            <a:endParaRPr lang="en-IN" sz="1800" b="0" u="none" strike="noStrike">
              <a:solidFill>
                <a:srgbClr val="000000"/>
              </a:solidFill>
              <a:effectLst/>
              <a:uFillTx/>
              <a:latin typeface="Arial"/>
            </a:endParaRPr>
          </a:p>
          <a:p>
            <a:pPr algn="just">
              <a:lnSpc>
                <a:spcPct val="100000"/>
              </a:lnSpc>
            </a:pPr>
            <a:r>
              <a:rPr lang="en-IN" sz="1800" b="1" u="none" strike="noStrike">
                <a:solidFill>
                  <a:srgbClr val="000000"/>
                </a:solidFill>
                <a:effectLst/>
                <a:uFillTx/>
                <a:latin typeface="Arial"/>
                <a:ea typeface="Arial"/>
              </a:rPr>
              <a:t>Scalable &amp; Enterprise-Ready</a:t>
            </a:r>
            <a:r>
              <a:rPr lang="en-IN" sz="1800" b="0" u="none" strike="noStrike">
                <a:solidFill>
                  <a:srgbClr val="000000"/>
                </a:solidFill>
                <a:effectLst/>
                <a:uFillTx/>
                <a:latin typeface="Arial"/>
                <a:ea typeface="Arial"/>
              </a:rPr>
              <a:t> – Built on </a:t>
            </a:r>
            <a:r>
              <a:rPr lang="en-IN" sz="1800" b="1" u="none" strike="noStrike">
                <a:solidFill>
                  <a:srgbClr val="000000"/>
                </a:solidFill>
                <a:effectLst/>
                <a:uFillTx/>
                <a:latin typeface="Arial"/>
                <a:ea typeface="Arial"/>
              </a:rPr>
              <a:t>IBM watsonx.ai</a:t>
            </a:r>
            <a:r>
              <a:rPr lang="en-IN" sz="1800" b="0" u="none" strike="noStrike">
                <a:solidFill>
                  <a:srgbClr val="000000"/>
                </a:solidFill>
                <a:effectLst/>
                <a:uFillTx/>
                <a:latin typeface="Arial"/>
                <a:ea typeface="Arial"/>
              </a:rPr>
              <a:t> with </a:t>
            </a:r>
            <a:r>
              <a:rPr lang="en-IN" sz="1800" b="1" u="none" strike="noStrike">
                <a:solidFill>
                  <a:srgbClr val="000000"/>
                </a:solidFill>
                <a:effectLst/>
                <a:uFillTx/>
                <a:latin typeface="Arial"/>
                <a:ea typeface="Arial"/>
              </a:rPr>
              <a:t>IBM Granite models</a:t>
            </a:r>
            <a:r>
              <a:rPr lang="en-IN" sz="1800" b="0" u="none" strike="noStrike">
                <a:solidFill>
                  <a:srgbClr val="000000"/>
                </a:solidFill>
                <a:effectLst/>
                <a:uFillTx/>
                <a:latin typeface="Arial"/>
                <a:ea typeface="Arial"/>
              </a:rPr>
              <a:t>, ensuring reliability and governance. </a:t>
            </a:r>
            <a:endParaRPr lang="en-IN" sz="1800" b="0" u="none" strike="noStrike">
              <a:solidFill>
                <a:srgbClr val="000000"/>
              </a:solidFill>
              <a:effectLst/>
              <a:uFillTx/>
              <a:latin typeface="Arial"/>
            </a:endParaRPr>
          </a:p>
          <a:p>
            <a:pPr algn="just">
              <a:lnSpc>
                <a:spcPct val="100000"/>
              </a:lnSpc>
            </a:pPr>
            <a:endParaRPr lang="en-IN" sz="1800" b="0" u="none" strike="noStrike">
              <a:solidFill>
                <a:srgbClr val="000000"/>
              </a:solidFill>
              <a:effectLst/>
              <a:uFillTx/>
              <a:latin typeface="Arial"/>
            </a:endParaRPr>
          </a:p>
          <a:p>
            <a:pPr algn="just">
              <a:lnSpc>
                <a:spcPct val="100000"/>
              </a:lnSpc>
            </a:pPr>
            <a:r>
              <a:rPr lang="en-IN" sz="1800" b="0" u="none" strike="noStrike">
                <a:solidFill>
                  <a:srgbClr val="000000"/>
                </a:solidFill>
                <a:effectLst/>
                <a:uFillTx/>
                <a:latin typeface="Arial"/>
                <a:ea typeface="Arial"/>
              </a:rPr>
              <a:t>This makes the solution a </a:t>
            </a:r>
            <a:r>
              <a:rPr lang="en-IN" sz="1800" b="1" u="none" strike="noStrike">
                <a:solidFill>
                  <a:srgbClr val="000000"/>
                </a:solidFill>
                <a:effectLst/>
                <a:uFillTx/>
                <a:latin typeface="Arial"/>
                <a:ea typeface="Arial"/>
              </a:rPr>
              <a:t>smart, adaptive, and proactive digital nutritionist</a:t>
            </a:r>
            <a:r>
              <a:rPr lang="en-IN" sz="1800" b="0" u="none" strike="noStrike">
                <a:solidFill>
                  <a:srgbClr val="000000"/>
                </a:solidFill>
                <a:effectLst/>
                <a:uFillTx/>
                <a:latin typeface="Arial"/>
                <a:ea typeface="Arial"/>
              </a:rPr>
              <a:t>, not just a static diet recommendation tool.</a:t>
            </a: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IN" sz="2400" b="0" u="none" strike="noStrike">
              <a:solidFill>
                <a:srgbClr val="000000"/>
              </a:solidFill>
              <a:effectLst/>
              <a:uFillTx/>
              <a:latin typeface="Arial"/>
            </a:endParaRPr>
          </a:p>
        </p:txBody>
      </p:sp>
      <p:sp>
        <p:nvSpPr>
          <p:cNvPr id="89" name="Google Shape;279;p18"/>
          <p:cNvSpPr/>
          <p:nvPr/>
        </p:nvSpPr>
        <p:spPr>
          <a:xfrm>
            <a:off x="744120" y="1153800"/>
            <a:ext cx="10120680" cy="427680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Please create public github repository (Enable Add README  button while creating repository) with format –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Please test and Paste the working  Github URL –</a:t>
            </a:r>
            <a:r>
              <a:rPr lang="en-US" sz="1400" b="1" u="none" strike="noStrike">
                <a:solidFill>
                  <a:srgbClr val="2B3541"/>
                </a:solidFill>
                <a:effectLst/>
                <a:uFillTx/>
                <a:latin typeface="Times New Roman"/>
                <a:ea typeface="Times New Roman"/>
              </a:rPr>
              <a:t>https://github.com/Mayank0128/Nutritionagent.git</a:t>
            </a:r>
            <a:endParaRPr lang="en-IN" sz="1400" b="0" u="none" strike="noStrike">
              <a:solidFill>
                <a:srgbClr val="000000"/>
              </a:solidFill>
              <a:effectLst/>
              <a:uFillTx/>
              <a:latin typeface="Arial"/>
            </a:endParaRPr>
          </a:p>
          <a:p>
            <a:pPr>
              <a:lnSpc>
                <a:spcPct val="162000"/>
              </a:lnSpc>
              <a:tabLst>
                <a:tab pos="0" algn="l"/>
              </a:tabLst>
            </a:pPr>
            <a:endParaRPr lang="en-IN" sz="1850" b="0" u="none" strike="noStrike">
              <a:solidFill>
                <a:srgbClr val="000000"/>
              </a:solidFill>
              <a:effectLst/>
              <a:uFillTx/>
              <a:latin typeface="Arial"/>
            </a:endParaRPr>
          </a:p>
          <a:p>
            <a:pPr>
              <a:lnSpc>
                <a:spcPct val="162000"/>
              </a:lnSpc>
              <a:tabLst>
                <a:tab pos="0" algn="l"/>
              </a:tabLst>
            </a:pPr>
            <a:endParaRPr lang="en-IN" sz="1850" b="0" u="none" strike="noStrike">
              <a:solidFill>
                <a:srgbClr val="000000"/>
              </a:solidFill>
              <a:effectLst/>
              <a:uFillTx/>
              <a:latin typeface="Arial"/>
            </a:endParaRPr>
          </a:p>
        </p:txBody>
      </p:sp>
      <p:sp>
        <p:nvSpPr>
          <p:cNvPr id="90"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1"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2"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IN" sz="2400" b="0" u="none" strike="noStrike">
              <a:solidFill>
                <a:srgbClr val="000000"/>
              </a:solidFill>
              <a:effectLst/>
              <a:uFillTx/>
              <a:latin typeface="Arial"/>
            </a:endParaRPr>
          </a:p>
        </p:txBody>
      </p:sp>
      <p:sp>
        <p:nvSpPr>
          <p:cNvPr id="94" name="Google Shape;279;p18"/>
          <p:cNvSpPr/>
          <p:nvPr/>
        </p:nvSpPr>
        <p:spPr>
          <a:xfrm>
            <a:off x="1218600" y="1221840"/>
            <a:ext cx="9214200" cy="427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50" b="1" u="none" strike="noStrike">
                <a:solidFill>
                  <a:srgbClr val="2B3541"/>
                </a:solidFill>
                <a:effectLst/>
                <a:uFillTx/>
                <a:latin typeface="Times New Roman"/>
                <a:ea typeface="Arial"/>
              </a:rPr>
              <a:t>1. Integration with Wearables and IoT</a:t>
            </a:r>
            <a:endParaRPr lang="en-IN" sz="1850" b="0" u="none" strike="noStrike">
              <a:solidFill>
                <a:srgbClr val="000000"/>
              </a:solidFill>
              <a:effectLst/>
              <a:uFillTx/>
              <a:latin typeface="Arial"/>
            </a:endParaRPr>
          </a:p>
          <a:p>
            <a:pPr>
              <a:lnSpc>
                <a:spcPct val="100000"/>
              </a:lnSpc>
            </a:pPr>
            <a:r>
              <a:rPr lang="en-US" sz="1850" b="0" u="none" strike="noStrike">
                <a:solidFill>
                  <a:srgbClr val="2B3541"/>
                </a:solidFill>
                <a:effectLst/>
                <a:uFillTx/>
                <a:latin typeface="Times New Roman"/>
                <a:ea typeface="Arial"/>
              </a:rPr>
              <a:t>The system can expand by connecting with devices like:</a:t>
            </a:r>
            <a:endParaRPr lang="en-IN" sz="1850" b="0" u="none" strike="noStrike">
              <a:solidFill>
                <a:srgbClr val="000000"/>
              </a:solidFill>
              <a:effectLst/>
              <a:uFillTx/>
              <a:latin typeface="Arial"/>
            </a:endParaRPr>
          </a:p>
          <a:p>
            <a:pPr marL="216000" indent="-216000">
              <a:lnSpc>
                <a:spcPct val="100000"/>
              </a:lnSpc>
              <a:buClr>
                <a:srgbClr val="000000"/>
              </a:buClr>
              <a:buFont typeface="Arial"/>
              <a:buChar char="•"/>
            </a:pPr>
            <a:r>
              <a:rPr lang="en-US" sz="1850" b="0" u="none" strike="noStrike">
                <a:solidFill>
                  <a:srgbClr val="2B3541"/>
                </a:solidFill>
                <a:effectLst/>
                <a:uFillTx/>
                <a:latin typeface="Times New Roman"/>
                <a:ea typeface="Arial"/>
              </a:rPr>
              <a:t>Smartwatches (activity, heart rate, sleep) </a:t>
            </a:r>
            <a:endParaRPr lang="en-IN" sz="1850" b="0" u="none" strike="noStrike">
              <a:solidFill>
                <a:srgbClr val="000000"/>
              </a:solidFill>
              <a:effectLst/>
              <a:uFillTx/>
              <a:latin typeface="Arial"/>
            </a:endParaRPr>
          </a:p>
          <a:p>
            <a:pPr marL="216000" indent="-216000">
              <a:lnSpc>
                <a:spcPct val="100000"/>
              </a:lnSpc>
              <a:buClr>
                <a:srgbClr val="000000"/>
              </a:buClr>
              <a:buFont typeface="Arial"/>
              <a:buChar char="•"/>
            </a:pPr>
            <a:r>
              <a:rPr lang="en-US" sz="1850" b="0" u="none" strike="noStrike">
                <a:solidFill>
                  <a:srgbClr val="2B3541"/>
                </a:solidFill>
                <a:effectLst/>
                <a:uFillTx/>
                <a:latin typeface="Times New Roman"/>
                <a:ea typeface="Arial"/>
              </a:rPr>
              <a:t>Continuous glucose monitors (real-time blood sugar tracking)</a:t>
            </a:r>
            <a:endParaRPr lang="en-IN"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Arial"/>
              </a:rPr>
              <a:t>2.AI-Powered Voice Assistant &amp; Multilingual Support </a:t>
            </a:r>
            <a:r>
              <a:rPr lang="en-US" sz="1850" b="1" u="none" strike="noStrike">
                <a:solidFill>
                  <a:srgbClr val="2B3541"/>
                </a:solidFill>
                <a:effectLst/>
                <a:uFillTx/>
                <a:latin typeface="Times New Roman"/>
                <a:ea typeface="Times New Roman"/>
              </a:rPr>
              <a:t>–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lang="en-IN" sz="1850" b="0" u="none" strike="noStrike">
              <a:solidFill>
                <a:srgbClr val="000000"/>
              </a:solidFill>
              <a:effectLst/>
              <a:uFillTx/>
              <a:latin typeface="Arial"/>
            </a:endParaRPr>
          </a:p>
        </p:txBody>
      </p:sp>
      <p:sp>
        <p:nvSpPr>
          <p:cNvPr id="95"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6"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7"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Google Shape;310;p20"/>
          <p:cNvPicPr/>
          <p:nvPr/>
        </p:nvPicPr>
        <p:blipFill>
          <a:blip r:embed="rId1"/>
          <a:stretch/>
        </p:blipFill>
        <p:spPr>
          <a:xfrm>
            <a:off x="0" y="2190240"/>
            <a:ext cx="12191760" cy="2477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1414</TotalTime>
  <Application>LibreOffice/26.2.2.2$Linux_X86_64 LibreOffice_project/620$Build-2</Application>
  <AppVersion>15.0000</AppVersion>
  <Words>1271</Words>
  <Paragraphs>114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en-IN</dc:language>
  <cp:lastModifiedBy/>
  <dcterms:modified xsi:type="dcterms:W3CDTF">2026-05-02T13:19:48Z</dcterms:modified>
  <cp:revision>84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14</vt:i4>
  </property>
</Properties>
</file>